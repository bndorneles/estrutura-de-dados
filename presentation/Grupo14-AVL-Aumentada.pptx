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efcbea31f2414a" /><Relationship Type="http://schemas.openxmlformats.org/officeDocument/2006/relationships/extended-properties" Target="/docProps/app.xml" Id="R199323ce51254020" /><Relationship Type="http://schemas.openxmlformats.org/officeDocument/2006/relationships/officeDocument" Target="/ppt/presentation.xml" Id="R4c21031e497a40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d56d84f8944bdc"/>
  </p:sldMasterIdLst>
  <p:notesMasterIdLst>
    <p:notesMasterId xmlns:r="http://schemas.openxmlformats.org/officeDocument/2006/relationships" r:id="Rce450e91ac7b43c0"/>
  </p:notesMasterIdLst>
  <p:sldIdLst>
    <p:sldId xmlns:r="http://schemas.openxmlformats.org/officeDocument/2006/relationships" id="256" r:id="R8c2ed4a94a0b40f0"/>
    <p:sldId xmlns:r="http://schemas.openxmlformats.org/officeDocument/2006/relationships" id="257" r:id="Rd76d1669afb24e2f"/>
    <p:sldId xmlns:r="http://schemas.openxmlformats.org/officeDocument/2006/relationships" id="258" r:id="R8a73b886c75848e9"/>
    <p:sldId xmlns:r="http://schemas.openxmlformats.org/officeDocument/2006/relationships" id="259" r:id="R036731f7953d4de9"/>
    <p:sldId xmlns:r="http://schemas.openxmlformats.org/officeDocument/2006/relationships" id="260" r:id="R70a2961ea6f54b7e"/>
    <p:sldId xmlns:r="http://schemas.openxmlformats.org/officeDocument/2006/relationships" id="261" r:id="Rd6eb5ee51e3b4b42"/>
    <p:sldId xmlns:r="http://schemas.openxmlformats.org/officeDocument/2006/relationships" id="262" r:id="R489544b3cbfd40ee"/>
    <p:sldId xmlns:r="http://schemas.openxmlformats.org/officeDocument/2006/relationships" id="263" r:id="R7e5fc200672a4bfe"/>
    <p:sldId xmlns:r="http://schemas.openxmlformats.org/officeDocument/2006/relationships" id="264" r:id="R3a2640961e724463"/>
    <p:sldId xmlns:r="http://schemas.openxmlformats.org/officeDocument/2006/relationships" id="265" r:id="R52979e2ec28748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cf34a168354e82" /><Relationship Type="http://schemas.openxmlformats.org/officeDocument/2006/relationships/slideMaster" Target="/ppt/slideMasters/slideMaster1.xml" Id="R70d56d84f8944bdc" /><Relationship Type="http://schemas.openxmlformats.org/officeDocument/2006/relationships/notesMaster" Target="/ppt/notesMasters/notesMaster1.xml" Id="Rce450e91ac7b43c0" /><Relationship Type="http://schemas.openxmlformats.org/officeDocument/2006/relationships/presProps" Target="/ppt/presProps.xml" Id="Raf137373be8041e1" /><Relationship Type="http://schemas.openxmlformats.org/officeDocument/2006/relationships/tableStyles" Target="/ppt/tableStyles.xml" Id="Re43388dffc754e19" /><Relationship Type="http://schemas.openxmlformats.org/officeDocument/2006/relationships/slide" Target="/ppt/slides/slide1.xml" Id="R8c2ed4a94a0b40f0" /><Relationship Type="http://schemas.openxmlformats.org/officeDocument/2006/relationships/slide" Target="/ppt/slides/slide2.xml" Id="Rd76d1669afb24e2f" /><Relationship Type="http://schemas.openxmlformats.org/officeDocument/2006/relationships/slide" Target="/ppt/slides/slide3.xml" Id="R8a73b886c75848e9" /><Relationship Type="http://schemas.openxmlformats.org/officeDocument/2006/relationships/slide" Target="/ppt/slides/slide4.xml" Id="R036731f7953d4de9" /><Relationship Type="http://schemas.openxmlformats.org/officeDocument/2006/relationships/slide" Target="/ppt/slides/slide5.xml" Id="R70a2961ea6f54b7e" /><Relationship Type="http://schemas.openxmlformats.org/officeDocument/2006/relationships/slide" Target="/ppt/slides/slide6.xml" Id="Rd6eb5ee51e3b4b42" /><Relationship Type="http://schemas.openxmlformats.org/officeDocument/2006/relationships/slide" Target="/ppt/slides/slide7.xml" Id="R489544b3cbfd40ee" /><Relationship Type="http://schemas.openxmlformats.org/officeDocument/2006/relationships/slide" Target="/ppt/slides/slide8.xml" Id="R7e5fc200672a4bfe" /><Relationship Type="http://schemas.openxmlformats.org/officeDocument/2006/relationships/slide" Target="/ppt/slides/slide9.xml" Id="R3a2640961e724463" /><Relationship Type="http://schemas.openxmlformats.org/officeDocument/2006/relationships/slide" Target="/ppt/slides/slide10.xml" Id="R52979e2ec28748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3d1c3e8c1148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1e485d49fb42a3" /><Relationship Type="http://schemas.openxmlformats.org/officeDocument/2006/relationships/notesMaster" Target="/ppt/notesMasters/notesMaster1.xml" Id="R9e3ff274074747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5354fb4f8f4314" /><Relationship Type="http://schemas.openxmlformats.org/officeDocument/2006/relationships/notesMaster" Target="/ppt/notesMasters/notesMaster1.xml" Id="Rfe79e60ac08144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16c508ce484931" /><Relationship Type="http://schemas.openxmlformats.org/officeDocument/2006/relationships/notesMaster" Target="/ppt/notesMasters/notesMaster1.xml" Id="Rf2aeab419b084e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728157e0cf4193" /><Relationship Type="http://schemas.openxmlformats.org/officeDocument/2006/relationships/notesMaster" Target="/ppt/notesMasters/notesMaster1.xml" Id="R9a73886d981e4d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d22acd0bda476c" /><Relationship Type="http://schemas.openxmlformats.org/officeDocument/2006/relationships/notesMaster" Target="/ppt/notesMasters/notesMaster1.xml" Id="R441c225c77f14b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c534ac0b934292" /><Relationship Type="http://schemas.openxmlformats.org/officeDocument/2006/relationships/notesMaster" Target="/ppt/notesMasters/notesMaster1.xml" Id="Rdc5996948b1644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af9949773d4e68" /><Relationship Type="http://schemas.openxmlformats.org/officeDocument/2006/relationships/notesMaster" Target="/ppt/notesMasters/notesMaster1.xml" Id="R298176d1f90c46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9acf038e80482d" /><Relationship Type="http://schemas.openxmlformats.org/officeDocument/2006/relationships/notesMaster" Target="/ppt/notesMasters/notesMaster1.xml" Id="R21273b10c34e46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dd0251ffe64ce9" /><Relationship Type="http://schemas.openxmlformats.org/officeDocument/2006/relationships/notesMaster" Target="/ppt/notesMasters/notesMaster1.xml" Id="Racbe63d24f2642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d9825d4d1e4531" /><Relationship Type="http://schemas.openxmlformats.org/officeDocument/2006/relationships/notesMaster" Target="/ppt/notesMasters/notesMaster1.xml" Id="R24623c37b7a749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e63808691a49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bb0be1205d4066" /><Relationship Type="http://schemas.openxmlformats.org/officeDocument/2006/relationships/slideLayout" Target="/ppt/slideLayouts/slideLayout1.xml" Id="R4ffcd8084b2645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fcd8084b2645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df12c645f4778" /><Relationship Type="http://schemas.openxmlformats.org/officeDocument/2006/relationships/notesSlide" Target="/ppt/notesSlides/notesSlide1.xml" Id="Re21d15c3855a4a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b04077b96464f" /><Relationship Type="http://schemas.openxmlformats.org/officeDocument/2006/relationships/notesSlide" Target="/ppt/notesSlides/notesSlide2.xml" Id="R86c8f0c9f9a141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74556c9f1474e" /><Relationship Type="http://schemas.openxmlformats.org/officeDocument/2006/relationships/notesSlide" Target="/ppt/notesSlides/notesSlide3.xml" Id="R768fd84685a842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a0881a03440ca" /><Relationship Type="http://schemas.openxmlformats.org/officeDocument/2006/relationships/notesSlide" Target="/ppt/notesSlides/notesSlide4.xml" Id="Rbf1347db717d40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a4f7223614dac" /><Relationship Type="http://schemas.openxmlformats.org/officeDocument/2006/relationships/notesSlide" Target="/ppt/notesSlides/notesSlide5.xml" Id="Radc3c5bbbbc948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950d1950948d9" /><Relationship Type="http://schemas.openxmlformats.org/officeDocument/2006/relationships/notesSlide" Target="/ppt/notesSlides/notesSlide6.xml" Id="R9d72215718ce49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ee43b592f4533" /><Relationship Type="http://schemas.openxmlformats.org/officeDocument/2006/relationships/image" Target="/ppt/media/image.png" Id="Rdbd1a09287924c12" /><Relationship Type="http://schemas.openxmlformats.org/officeDocument/2006/relationships/notesSlide" Target="/ppt/notesSlides/notesSlide7.xml" Id="Rd5341d972fa345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66fe07e284135" /><Relationship Type="http://schemas.openxmlformats.org/officeDocument/2006/relationships/image" Target="/ppt/media/image2.png" Id="R77e848011a9147a1" /><Relationship Type="http://schemas.openxmlformats.org/officeDocument/2006/relationships/notesSlide" Target="/ppt/notesSlides/notesSlide8.xml" Id="R2cce15b6d63348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358ff72754dca" /><Relationship Type="http://schemas.openxmlformats.org/officeDocument/2006/relationships/image" Target="/ppt/media/image3.png" Id="Re22da2b8ecc34af9" /><Relationship Type="http://schemas.openxmlformats.org/officeDocument/2006/relationships/notesSlide" Target="/ppt/notesSlides/notesSlide9.xml" Id="Rb326caacb4d540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137e68a584410" /><Relationship Type="http://schemas.openxmlformats.org/officeDocument/2006/relationships/notesSlide" Target="/ppt/notesSlides/notesSlide10.xml" Id="R6a8588f8655740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5D408E-5A56-4888-8F28-970D90F1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AL0334 · ESTRUTURA DE DADOS · GRUPO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339D3-A0B7-4468-B9CA-D0AB8D92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7620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AVL aumentada</a:t>
            </a:r>
          </a:p>
          <a:p xmlns:a="http://schemas.openxmlformats.org/drawingml/2006/main">
            <a:pPr>
              <a:defRPr sz="4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sob carga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AFE9A-19CA-4485-9C34-655FF614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64748B"/>
                </a:solidFill>
                <a:latin typeface="Aptos"/>
                <a:ea typeface="Aptos"/>
                <a:cs typeface="Aptos"/>
              </a:rPr>
              <a:t>O balanceamento evitou uma degradação de 1.207× no caso oficial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BE8FF-A7BA-48A0-88CF-D54CCD3A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19250"/>
            <a:ext cx="23241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FED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234F1-0F00-478E-9AB1-F1445DB9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47875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1.207×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1F0F9-A0FC-418F-A217-3EA4AF59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14650"/>
            <a:ext cx="186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827"/>
                </a:solidFill>
                <a:latin typeface="Aptos"/>
                <a:ea typeface="Aptos"/>
                <a:cs typeface="Aptos"/>
              </a:rPr>
              <a:t>AVL mais rápida</a:t>
            </a:r>
          </a:p>
          <a:p xmlns:a="http://schemas.openxmlformats.org/drawingml/2006/main">
            <a:pPr algn="ctr">
              <a:defRPr sz="135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827"/>
                </a:solidFill>
                <a:latin typeface="Aptos"/>
                <a:ea typeface="Aptos"/>
                <a:cs typeface="Aptos"/>
              </a:rPr>
              <a:t>1 milhão de operações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E671A-626E-4266-890A-922D97E4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bNDorneles · gustavodanjos</a:t>
            </a:r>
          </a:p>
        </p:txBody>
      </p:sp>
    </p:spTree>
    <p:extLst>
      <p:ext uri="{BB962C8B-B14F-4D97-AF65-F5344CB8AC3E}">
        <p14:creationId xmlns:p14="http://schemas.microsoft.com/office/powerpoint/2010/main" val="711153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918E69-04FC-454A-BAA3-1B295838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 desafio combina ordem, atualização e consulta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BB89A-1CE2-436B-9B9D-C86D1F9B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48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421C6-5531-4E1E-9854-A68630DB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09750"/>
            <a:ext cx="3429000" cy="3619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96374-9D89-4B2D-BD58-9731A84A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F3772-F69E-4CD1-8987-09738F5B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40DC4-856E-4C93-B431-6A0AAFC0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SOSD face</a:t>
            </a:r>
          </a:p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chaves uint64</a:t>
            </a:r>
          </a:p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theta 0,99 · seed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58AE5-E10F-4162-AB33-A338341D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3429000" cy="3619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6F8FF-1D5B-4FB8-B83A-356A2B2C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7D8FF-F384-42B3-A092-B893036D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67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OPERAÇÕES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81123-4345-4F28-A02C-4122C16C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004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insert · delete · search</a:t>
            </a:r>
          </a:p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rank · select</a:t>
            </a:r>
          </a:p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rangeMin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6DD89-422A-47F4-80FF-78888ADB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429000" cy="3619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FED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2A77A-2EF0-4D59-A777-B7D1F4EA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1EFBF-AF1B-4709-A252-854C7A3E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RISCO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E7921-FED8-4FC4-925D-8C311895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004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mix 45:30:25</a:t>
            </a:r>
          </a:p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ordem sorted</a:t>
            </a:r>
          </a:p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caso patológico da BST</a:t>
            </a:r>
          </a:p>
        </p:txBody>
      </p:sp>
    </p:spTree>
    <p:extLst>
      <p:ext uri="{BB962C8B-B14F-4D97-AF65-F5344CB8AC3E}">
        <p14:creationId xmlns:p14="http://schemas.microsoft.com/office/powerpoint/2010/main" val="12572079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49ACC6-6432-467C-A9D0-F41A998A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Metadados transformam a AVL em índice ordenado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85428-C6DC-4CD8-B2E7-E9876395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48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6096000" y="293370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25" name=""/>
          <p:cNvCxnSpPr/>
          <p:nvPr/>
        </p:nvCxnSpPr>
        <p:spPr>
          <a:xfrm xmlns:a="http://schemas.openxmlformats.org/drawingml/2006/main">
            <a:off x="3714750" y="3333750"/>
            <a:ext cx="476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26" name=""/>
          <p:cNvCxnSpPr/>
          <p:nvPr/>
        </p:nvCxnSpPr>
        <p:spPr>
          <a:xfrm xmlns:a="http://schemas.openxmlformats.org/drawingml/2006/main">
            <a:off x="3714750" y="333375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8477250" y="333375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D3CBC-FAC6-4619-83FE-C5B0697F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A8675-7004-4642-827A-E8A0173C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478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1AB87-AE48-4752-B5E9-00BA881B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85950"/>
            <a:ext cx="1257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h=3 · size=7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119F7-5AE6-4CF3-8974-8359F8CE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4748B"/>
                </a:solidFill>
                <a:latin typeface="Aptos"/>
                <a:ea typeface="Aptos"/>
                <a:cs typeface="Aptos"/>
              </a:rPr>
              <a:t>chave · altura · subárvore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539F4-A621-4230-A059-5FD86FC0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62375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F9765-6AA7-4AED-BE0B-C110726A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9572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FD7DC-A47B-44A5-8E7F-E400AA19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33825"/>
            <a:ext cx="1257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h=2 · size=3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837EE-897D-4B68-9AFA-4FB0E008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053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4748B"/>
                </a:solidFill>
                <a:latin typeface="Aptos"/>
                <a:ea typeface="Aptos"/>
                <a:cs typeface="Aptos"/>
              </a:rPr>
              <a:t>chave · altura · subárvore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DC9432-869A-42A8-82F5-EBA6B1DB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62375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5DE77-F99D-4433-B867-019B29EB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9572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67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8EA18-AE44-4DA4-B42C-9EFD3FA1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33825"/>
            <a:ext cx="1257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h=2 · size=3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441C1-4F17-4C72-9181-A44A5562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053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4748B"/>
                </a:solidFill>
                <a:latin typeface="Aptos"/>
                <a:ea typeface="Aptos"/>
                <a:cs typeface="Aptos"/>
              </a:rPr>
              <a:t>chave · altura · subárvore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5CBCEC-8EF6-4E6C-A6CA-C955507A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altura → rotações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AC9EC4-2BDE-4725-A978-B6EA1B01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size → rank / select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6EDA3-2609-4DB7-885B-22A7DE8B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578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64748B"/>
                </a:solidFill>
                <a:latin typeface="Aptos"/>
                <a:ea typeface="Aptos"/>
                <a:cs typeface="Aptos"/>
              </a:rPr>
              <a:t>A ordenação também permite localizar o mínimo de [a,b] sem varrer a árvore.</a:t>
            </a:r>
          </a:p>
        </p:txBody>
      </p:sp>
    </p:spTree>
    <p:extLst>
      <p:ext uri="{BB962C8B-B14F-4D97-AF65-F5344CB8AC3E}">
        <p14:creationId xmlns:p14="http://schemas.microsoft.com/office/powerpoint/2010/main" val="2028172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59B41B-7336-49CD-AA54-480A225D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Quatro invariantes sustentam a corretude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28C92-C1D5-4364-89FD-C26E954B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48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2476500" y="32194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cxnSp>
        <p:nvCxnSpPr>
          <p:cNvPr id="22" name=""/>
          <p:cNvCxnSpPr/>
          <p:nvPr/>
        </p:nvCxnSpPr>
        <p:spPr>
          <a:xfrm xmlns:a="http://schemas.openxmlformats.org/drawingml/2006/main">
            <a:off x="5286375" y="32194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cxnSp>
        <p:nvCxnSpPr>
          <p:cNvPr id="23" name=""/>
          <p:cNvCxnSpPr/>
          <p:nvPr/>
        </p:nvCxnSpPr>
        <p:spPr>
          <a:xfrm xmlns:a="http://schemas.openxmlformats.org/drawingml/2006/main">
            <a:off x="8096250" y="32194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78912-65C3-4E13-987C-946DC4DD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1431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DABE7-489F-4B16-8DC2-CDC141A6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ORDEM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8015B-C9C8-4DEE-BC84-33B56324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762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esquerda &lt; nó &lt; direita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FC354-35A9-4B3A-9EC2-44F8410B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1431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AE3DD-AB54-4D15-A564-FB8CF883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289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ALTURA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FA031-959E-477F-9A85-C64B9CDB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86100"/>
            <a:ext cx="1762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 + max(hesq, hdir)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7313E-3DEB-4DE4-938B-DAF74813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1431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FE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D8ACC-95B0-4A51-A730-5B64530A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BALANÇO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7CB82-966C-47D1-9938-A6396937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1762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fator sempre em [-1, 1]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09F2A3-A8F6-4935-9164-9FB10963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81250"/>
            <a:ext cx="21431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EDE9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F6DE4-8E46-4D61-9164-4FE380C2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289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TAMANHO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45B8D-6C76-4365-9BE1-41CB51E8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86100"/>
            <a:ext cx="1762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 + size(esq) + size(dir)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144199-8AB1-4A4A-9098-DF4A4E01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7680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Após uma rotação: atualizar primeiro o nó que desce, depois o que sobe.</a:t>
            </a:r>
          </a:p>
        </p:txBody>
      </p:sp>
    </p:spTree>
    <p:extLst>
      <p:ext uri="{BB962C8B-B14F-4D97-AF65-F5344CB8AC3E}">
        <p14:creationId xmlns:p14="http://schemas.microsoft.com/office/powerpoint/2010/main" val="8301977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8F48A0-417B-46A6-84CB-21CFD1B5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Só medimos traces aprovados pelo oráculo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4C8A6-412B-4398-A588-DE1B934A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48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2095500" y="32766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cxnSp>
      <p:cxnSp>
        <p:nvCxnSpPr>
          <p:cNvPr id="26" name=""/>
          <p:cNvCxnSpPr/>
          <p:nvPr/>
        </p:nvCxnSpPr>
        <p:spPr>
          <a:xfrm xmlns:a="http://schemas.openxmlformats.org/drawingml/2006/main">
            <a:off x="4381500" y="32766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6667500" y="32766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8953500" y="32766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E20AE-405D-4A23-89CF-75BF0A66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695450" cy="171450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DA7DE-3AAC-47EE-AE30-048392D9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SOSD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63EDE-0D45-4586-850C-78B9DFE7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face real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10M chaves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0C6DA-84F6-4003-8740-E2E74A97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76500"/>
            <a:ext cx="1695450" cy="171450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0C7FE-355C-4C56-B14E-3FF8B172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24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F7A45-C2F9-4483-8144-95B82467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81350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mix + theta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seed 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BE9B4-A2EA-4A53-864B-C41CB642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695450" cy="171450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F5DEC-3269-4A88-B5F8-3FD0CBEC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ORÁCULO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2D0E1-7AC8-49FE-B2DE-F336F9A4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81350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AVL e BST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sem divergência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932D9-3143-4916-8B9D-3751B112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76500"/>
            <a:ext cx="1695450" cy="171450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161486-AB47-43FA-9F1F-32115CA5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24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WARMUP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BC58B8-4125-47A8-B7EF-8449DA9F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81350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 ciclos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fora da coleta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4CA245-F68D-40D5-B240-42917801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76500"/>
            <a:ext cx="1695450" cy="171450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383EDA-F40B-41AA-8E86-3A280C03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MÉTRICAS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33F12-86A7-438C-9742-3F769C81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81350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10 repetições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média · P50 · P99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D22ACF-D4EE-4E2D-BB6D-7914598D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4748B"/>
                </a:solidFill>
                <a:latin typeface="Aptos"/>
                <a:ea typeface="Aptos"/>
                <a:cs typeface="Aptos"/>
              </a:rPr>
              <a:t>Execução nativa · Windows 11 · JVM 21.0.9 · I/O fora da região medida</a:t>
            </a:r>
          </a:p>
        </p:txBody>
      </p:sp>
    </p:spTree>
    <p:extLst>
      <p:ext uri="{BB962C8B-B14F-4D97-AF65-F5344CB8AC3E}">
        <p14:creationId xmlns:p14="http://schemas.microsoft.com/office/powerpoint/2010/main" val="15925647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453668-9F54-430F-9DDD-66E9F600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matriz cobre escala, viés e caso patológico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B0C0E-C951-435E-BB5F-F49A2B9D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48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34650-7123-4B6A-B0FF-87FB5CD6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239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4748B"/>
                </a:solidFill>
                <a:latin typeface="Aptos"/>
                <a:ea typeface="Aptos"/>
                <a:cs typeface="Aptos"/>
              </a:rPr>
              <a:t>Cada dimensão responde a uma pergunta diferente sobre comportamento e custo.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A7A12-77E7-44A0-9B7D-394BA221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731FD-59EB-4F57-86EF-BBD91948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7CA9A-54E2-4558-A13D-46502904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2819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medições reais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 auditáveis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383F0-16F1-4F96-93C5-CBE52622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9075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6F76D-EA75-40A6-B411-1B1324DB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33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4×4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BE5DD-36AA-400F-977A-1BC41E05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52850"/>
            <a:ext cx="2819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escalas × thetas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1K → 1M · 0 → 1,2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A77DC-D859-4843-9678-42B59A4A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FED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D8AF4-0BEE-443E-B11D-F83AC4A1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33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2×2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E98E4-22DA-4650-8FE1-810A3DAD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52850"/>
            <a:ext cx="2819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ordens × árvores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shuffle/sorted · AVL/BST</a:t>
            </a:r>
          </a:p>
        </p:txBody>
      </p:sp>
    </p:spTree>
    <p:extLst>
      <p:ext uri="{BB962C8B-B14F-4D97-AF65-F5344CB8AC3E}">
        <p14:creationId xmlns:p14="http://schemas.microsoft.com/office/powerpoint/2010/main" val="16740792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5FEC5B-443E-4329-AB05-22679FCC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Em escala, a AVL permanece estável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112F2-CFD9-402B-A3D9-7BC3A3B7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48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1a09287924c12"/>
          <a:stretch xmlns:a="http://schemas.openxmlformats.org/drawingml/2006/main"/>
        </p:blipFill>
        <p:spPr>
          <a:xfrm xmlns:a="http://schemas.openxmlformats.org/drawingml/2006/main">
            <a:off x="1254125" y="1066800"/>
            <a:ext cx="6731000" cy="5048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74CF5-67F2-47B7-BDF0-00F61D68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76400"/>
            <a:ext cx="25717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FED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61B79-1CDE-45D5-AC75-FCADD505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0025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1.207,5×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AA058-AE32-48A5-A984-CDC139B0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479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vantagem da AVL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 caso oficial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42190-1D10-45E9-A120-0C6A7EA7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29050"/>
            <a:ext cx="238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AVL  137,7 ns</a:t>
            </a:r>
          </a:p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BST  166.278,6 ns</a:t>
            </a:r>
          </a:p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P99  140 vs 166.477 ns</a:t>
            </a:r>
          </a:p>
        </p:txBody>
      </p:sp>
    </p:spTree>
    <p:extLst>
      <p:ext uri="{BB962C8B-B14F-4D97-AF65-F5344CB8AC3E}">
        <p14:creationId xmlns:p14="http://schemas.microsoft.com/office/powerpoint/2010/main" val="214886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D03BC9-994F-46B8-822F-FCF7CA03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ordem sorted expõe a degeneração da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2AAE1-CF92-4962-894A-D52AD952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48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848011a9147a1"/>
          <a:stretch xmlns:a="http://schemas.openxmlformats.org/drawingml/2006/main"/>
        </p:blipFill>
        <p:spPr>
          <a:xfrm xmlns:a="http://schemas.openxmlformats.org/drawingml/2006/main">
            <a:off x="304800" y="1776413"/>
            <a:ext cx="8572500" cy="3571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68E65-B07F-46F5-A688-ED5559F2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19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SHUFFLE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40749-3307-4443-8814-94F16E2F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8120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Mesma ordem de grandeza; a BST evita o custo de rotação.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89938-A03F-44FE-A2C9-BFBD2702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71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SORTED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214CA-F417-4C39-8016-AC92C64D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3380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BST vira uma cadeia: operações se aproximam de O(n).</a:t>
            </a:r>
          </a:p>
        </p:txBody>
      </p:sp>
    </p:spTree>
    <p:extLst>
      <p:ext uri="{BB962C8B-B14F-4D97-AF65-F5344CB8AC3E}">
        <p14:creationId xmlns:p14="http://schemas.microsoft.com/office/powerpoint/2010/main" val="4966975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D8B979-ABE3-4723-A21F-AF33D621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Theta altera localidade; balanceamento decide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28C48-2C33-4C8B-AE85-4AF8896D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48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da2b8ecc34af9"/>
          <a:stretch xmlns:a="http://schemas.openxmlformats.org/drawingml/2006/main"/>
        </p:blipFill>
        <p:spPr>
          <a:xfrm xmlns:a="http://schemas.openxmlformats.org/drawingml/2006/main">
            <a:off x="285750" y="1755775"/>
            <a:ext cx="8763000" cy="3651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D113B-9E87-4141-B91F-CF7E9C17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190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A9E2D-BEC2-403F-A5F1-717DF3FA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574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θ = 0,99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E569E-DB7D-4F7F-B969-AC722E8E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acessos quentes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melhor localidade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mesma topologia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A4F4A-D608-49C3-9526-F3BB4C3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577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Nenhum theta recupera uma BST já degenerada.</a:t>
            </a:r>
          </a:p>
        </p:txBody>
      </p:sp>
    </p:spTree>
    <p:extLst>
      <p:ext uri="{BB962C8B-B14F-4D97-AF65-F5344CB8AC3E}">
        <p14:creationId xmlns:p14="http://schemas.microsoft.com/office/powerpoint/2010/main" val="987914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75BAF4-1897-498C-8F17-81921789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CONCLUSÃO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0ABC4-D0A6-42EE-8A8A-54601401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7620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 custo da rotação</a:t>
            </a:r>
          </a:p>
          <a:p xmlns:a="http://schemas.openxmlformats.org/drawingml/2006/main">
            <a:pPr>
              <a:defRPr sz="4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compra previsibilidade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CC46D-CBC6-4310-B9EF-2BA61B49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64748B"/>
                </a:solidFill>
                <a:latin typeface="Aptos"/>
                <a:ea typeface="Aptos"/>
                <a:cs typeface="Aptos"/>
              </a:rPr>
              <a:t>48 testes Java + 12 testes Python</a:t>
            </a:r>
          </a:p>
          <a:p xmlns:a="http://schemas.openxmlformats.org/drawingml/2006/main">
            <a:pPr>
              <a:defRPr sz="18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64748B"/>
                </a:solidFill>
                <a:latin typeface="Aptos"/>
                <a:ea typeface="Aptos"/>
                <a:cs typeface="Aptos"/>
              </a:rPr>
              <a:t>64 medições reais · zero divergências no oráculo</a:t>
            </a:r>
          </a:p>
          <a:p xmlns:a="http://schemas.openxmlformats.org/drawingml/2006/main">
            <a:pPr>
              <a:defRPr sz="18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64748B"/>
                </a:solidFill>
                <a:latin typeface="Aptos"/>
                <a:ea typeface="Aptos"/>
                <a:cs typeface="Aptos"/>
              </a:rPr>
              <a:t>AVL 1.207× mais rápida no caso oficial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59E2E-02A4-47F6-A94E-1724FA53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66900"/>
            <a:ext cx="25717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B2C46-7F96-4A2B-B3B1-93B25807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O(log 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CCAE0-64E2-45B6-97F4-9703003B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81350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mesmo sob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entrada ordenada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C3EE4-ADEF-4AAD-A17D-30AAF8E9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Perguntas</a:t>
            </a:r>
          </a:p>
        </p:txBody>
      </p:sp>
    </p:spTree>
    <p:extLst>
      <p:ext uri="{BB962C8B-B14F-4D97-AF65-F5344CB8AC3E}">
        <p14:creationId xmlns:p14="http://schemas.microsoft.com/office/powerpoint/2010/main" val="1315786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2026-07-15T14:08:49.7420000Z</dcterms:created>
  <dcterms:modified xsi:type="dcterms:W3CDTF">2026-07-15T14:08:49.7420000Z</dcterms:modified>
</coreProperties>
</file>